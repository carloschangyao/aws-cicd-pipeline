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71" r:id="rId12"/>
    <p:sldId id="272" r:id="rId13"/>
    <p:sldId id="27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zh-TW" altLang="en-US" sz="1400" b="0" i="0" u="none" strike="noStrike">
                <a:solidFill>
                  <a:srgbClr val="1E293B"/>
                </a:solidFill>
                <a:latin typeface="Arial"/>
              </a:rPr>
              <a:t>人工步驟數：</a:t>
            </a:r>
            <a:r>
              <a:rPr lang="en-US" altLang="zh-TW" sz="1400" b="0" i="0" u="none" strike="noStrike">
                <a:solidFill>
                  <a:srgbClr val="1E293B"/>
                </a:solidFill>
                <a:latin typeface="Arial"/>
              </a:rPr>
              <a:t>18 → 1</a:t>
            </a:r>
            <a:r>
              <a:rPr lang="zh-TW" altLang="en-US" sz="1400" b="0" i="0" u="none" strike="noStrike">
                <a:solidFill>
                  <a:srgbClr val="1E293B"/>
                </a:solidFill>
                <a:latin typeface="Arial"/>
              </a:rPr>
              <a:t>（減少 </a:t>
            </a:r>
            <a:r>
              <a:rPr lang="en-US" altLang="zh-TW" sz="1400" b="0" i="0" u="none" strike="noStrike">
                <a:solidFill>
                  <a:srgbClr val="1E293B"/>
                </a:solidFill>
                <a:latin typeface="Arial"/>
              </a:rPr>
              <a:t>94%</a:t>
            </a:r>
            <a:r>
              <a:rPr lang="zh-TW" altLang="en-US" sz="1400" b="0" i="0" u="none" strike="noStrike">
                <a:solidFill>
                  <a:srgbClr val="1E293B"/>
                </a:solidFill>
                <a:latin typeface="Arial"/>
              </a:rPr>
              <a:t>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人工步驟數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關 0 手動</c:v>
                </c:pt>
                <c:pt idx="1">
                  <c:v>關 1 容器化</c:v>
                </c:pt>
                <c:pt idx="2">
                  <c:v>關 2 自動建置</c:v>
                </c:pt>
                <c:pt idx="3">
                  <c:v>關 3 自動部署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7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E0-5440-A1D0-F2DC0B9C31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zh-TW" altLang="en-US" sz="1400" b="0" i="0" u="none" strike="noStrike">
                <a:solidFill>
                  <a:srgbClr val="1E293B"/>
                </a:solidFill>
                <a:latin typeface="Arial"/>
              </a:rPr>
              <a:t>端到端耗時：</a:t>
            </a:r>
            <a:r>
              <a:rPr lang="en-US" altLang="zh-TW" sz="1400" b="0" i="0" u="none" strike="noStrike">
                <a:solidFill>
                  <a:srgbClr val="1E293B"/>
                </a:solidFill>
                <a:latin typeface="Arial"/>
              </a:rPr>
              <a:t>960 </a:t>
            </a:r>
            <a:r>
              <a:rPr lang="zh-TW" altLang="en-US" sz="1400" b="0" i="0" u="none" strike="noStrike">
                <a:solidFill>
                  <a:srgbClr val="1E293B"/>
                </a:solidFill>
                <a:latin typeface="Arial"/>
              </a:rPr>
              <a:t>秒 → </a:t>
            </a:r>
            <a:r>
              <a:rPr lang="en-US" altLang="zh-TW" sz="1400" b="0" i="0" u="none" strike="noStrike">
                <a:solidFill>
                  <a:srgbClr val="1E293B"/>
                </a:solidFill>
                <a:latin typeface="Arial"/>
              </a:rPr>
              <a:t>80 </a:t>
            </a:r>
            <a:r>
              <a:rPr lang="zh-TW" altLang="en-US" sz="1400" b="0" i="0" u="none" strike="noStrike">
                <a:solidFill>
                  <a:srgbClr val="1E293B"/>
                </a:solidFill>
                <a:latin typeface="Arial"/>
              </a:rPr>
              <a:t>秒（減少 </a:t>
            </a:r>
            <a:r>
              <a:rPr lang="en-US" altLang="zh-TW" sz="1400" b="0" i="0" u="none" strike="noStrike">
                <a:solidFill>
                  <a:srgbClr val="1E293B"/>
                </a:solidFill>
                <a:latin typeface="Arial"/>
              </a:rPr>
              <a:t>92%</a:t>
            </a:r>
            <a:r>
              <a:rPr lang="zh-TW" altLang="en-US" sz="1400" b="0" i="0" u="none" strike="noStrike">
                <a:solidFill>
                  <a:srgbClr val="1E293B"/>
                </a:solidFill>
                <a:latin typeface="Arial"/>
              </a:rPr>
              <a:t>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端到端耗時（秒）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關 0 手動</c:v>
                </c:pt>
                <c:pt idx="1">
                  <c:v>關 1 容器化</c:v>
                </c:pt>
                <c:pt idx="2">
                  <c:v>關 2 自動建置</c:v>
                </c:pt>
                <c:pt idx="3">
                  <c:v>關 3 自動部署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960</c:v>
                </c:pt>
                <c:pt idx="1">
                  <c:v>37</c:v>
                </c:pt>
                <c:pt idx="2">
                  <c:v>56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56-CC4C-8080-0D215053D4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646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各位老師、各位同學好，我是張博堯。
我這次做的是 P3「CI/CD 演化闖關」，Tier 3。
一句話說明我做了什麼：我把「工程師改一行程式碼、到這行程式碼真的上線」這整件事，從原本需要 18 個步驟、花 16 分鐘的人工作業，改造成只要 1 個步驟、80 秒就完成的全自動流程。
而且這不是我用講的——後面每一關我都留下了實際量測的數字。
接下來大概 12 分鐘，我會帶大家走過這個演化過程，最後會現場 Demo 給大家看。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這是整個專題的地圖。
六個關卡，我做到關 4，關 5 評估後決定不做——這個決定的理由我後面會說明。
我想強調的是這張圖右邊那句話：關卡與關卡之間，不是「我又學了一個新工具」，而是「我解決了上一關記錄下來的一個具體問題」。
舉例來說。關 0 我手動部署的時候，程式碼是用貼的貼進伺服器，貼壞了兩次。這個痛點我記錄下來了。所以關 1 我做容器化，用 docker pull 傳輸，這個問題就消失了。
再例如，關 1 做完之後，映像檔還是要我自己打指令建置、自己推上去。這個痛點也記錄下來了。所以關 2 我做自動建置。
這樣一關一關推進，每一關都有明確要解決的東西。這也是為什麼關 0 那份「手動部署有多痛」的紀錄非做不可——沒有它，後面四關就只是四個工具，沒有故事。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 0 是手動部署。
這一關我要特別說明一下，因為它跟大家想的可能不一樣：這一關的目標「不是」部署成功。手動部署本來就一定會成功，只是花時間而已。
這一關真正的產出，是右邊這四個數字：18 個步驟、16 分鐘、失敗 2 次、版本完全無法追溯。
這四個數字是整個專題的基準線。後面每一關的價值，都是靠跟這四個數字對照才顯現出來的。
時間是怎麼算的？我不是用回憶估的，是用截圖檔案的時間戳回推——連線成功那張是 11 點 40 分 12 秒，驗證成功那張是 11 點 56 分 15 秒，中間 16 分鐘。
左下角這兩個失敗也值得一提。第一個是 sudo -i 之後用 &amp;&amp; 串指令不會執行，第二個是 Session Manager 一次貼 58 行程式碼會掉字。這兩個都是真實踩到的坑，我把錯誤訊息和根本原因都記錄下來了。
右下角是我記錄的七個痛點，我挑三個唸：版本號是我人工填的、完全不知道線上跑的是哪一版、每改一行程式碼這 18 步要重來一次。
這七個痛點，就是後面四關要一個一個解決的東西。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 1 是容器化。
左邊是關 0 的做法，右邊是關 1 的做法，我用同樣四個面向對照。
程式碼傳輸：以前是用貼的，會貼壞；現在是 docker pull，完整傳輸不會壞。
執行環境：以前目標機器要先裝 Python、要自己建虛擬環境、自己裝套件；現在這些全部封裝在映像檔裡面。
換機器：以前全部重來；現在同一個映像檔丟到哪台機器，行為都一模一樣。
這裡我想多解釋一個觀念，叫「不可變基礎設施」。映像檔一旦建好就不再修改，要改就重新建一個新的。所以線上跑的東西永遠是確定的，不會有「這台機器上次有人手動改過什麼」這種問題。
下面的數字：步驟從 18 降到 7，時間從 16 分鐘降到 37 秒，傳輸失敗歸零。
最右邊那格特別重要。關 0 的時候，版本這一格我只能填「none-manual-deploy」，因為手動部署根本不知道自己在部署哪一版。關 1 開始，我把 git commit 的編號烤進映像檔裡，所以線上跑的是哪一版，第一次變成查得到的事情。
不過關 1 還有沒解決的問題：建置跟推送還是我自己打指令，版本號也還是我自己決定的。這兩件事留給關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 2 是自動建置。
上面這四格是流水線的流程。第一步 git push 是我唯一要做的動作，後面三步全部是機器自己做。
第二步我想特別提。測試被我獨立成一個關卡，而且設定成「測試沒過，後面的建置和部署完全不會執行」。
這件事在技術上叫 CI，但如果用金融業的語言來說，這叫「自動化的內控關卡」。以前的變更管理是靠人簽核、靠人記得檢查；現在是機器強制執行，繞不過去。這對稽核來說比一疊簽核單有力得多。
第三步的版本號，現在是機器用 commit 編號跟流水線執行次數自動產生的。關 0 的時候那個版本號是我自己隨手打的，我可以打錯、可以忘記改。現在我連想填錯都沒機會。
下面這一塊是關 2 最重要的設計，我要多花點時間講。
一般人的做法是：去 AWS 開一組 access key，存進 GitHub 的 Secrets。但這等於把你 AWS 帳號的鑰匙，永久交給第三方平台保管。
我用的是 OIDC。運作方式是：GitHub 在每次執行流水線的時候，幫這次執行簽發一張身分證明，這張證明只有幾分鐘有效。拿這張證明去跟 AWS 說「我是這個 repo 的 main 分支」，AWS 驗證通過之後，才發給一組一小時後就失效的臨時憑證。
結果是：GitHub 那邊沒有金鑰，AWS 這邊也沒有金鑰。整條流水線裡找不到任何一組長期密碼。
這一關的設定我卡了很久，後面有一頁專門講那個過程。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 3 是這個專題的主軸，做到這裡 Tier 3 就成立了。
左上角是我實際做的驗證。我在 app.py 裡加了一行程式碼，git push 出去，然後什麼都不做，就在旁邊等。
14 點 22 分 49 秒 push，14 點 24 分 09 秒線上版本自己變了。總共 80 秒。中間我沒有登入任何機器、沒有下任何指令。
右上角這個我覺得是關 3 最漂亮的地方。線上網頁顯示的 Git Commit 是 dc4758f，我本機 git log 最新一筆也是 dc4758f。這兩個對得起來。
回到關 0 那一格「none-manual-deploy」——從那個什麼都查不到的狀態，到現在線上跑的是哪一版是百分之百確定的事。這中間的差距，就是「可追溯性」。
下面這塊講部署方式。
我沒有用 SSH。EC2 完全不開 22 port，連主機裡面的 sshd 服務我都停掉了。
為什麼可以不開 port？因為 SSM 的運作方式是反過來的——不是我從外面連進去，是主機上的代理程式主動打電話出來問「有沒有我的工作」。所以完全不需要任何對外開放的連接埠。
這對資安稽核的意義是：如果被問「誰有權限登入生產主機」，我的答案是「沒有人能 SSH，因為根本沒有這個服務」。而且每一次操作都綁定到具體身分，全部記錄在 CloudTrail。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關 4 是我最後做的一關，解決的是關 3 剩下的最後一個問題。
左上角：關 3 的部署動作是先 docker rm 殺掉舊容器，再 docker run 啟動新的。中間那幾秒，那台機器上是完全沒有服務的。這在單機上無法避免，因為只有一個容器，殺掉就沒了。
在金融業，這對應到「上線需要停機窗口」——必須排在收盤後或週末，還要動員人力待命。
右上角是關 4 的解法。我把部署目標換成 ECS Fargate，設定成滾動更新：先啟動新任務，等它通過負載平衡器的健康檢查，才逐一終止舊任務。全程至少維持原有數量的健康任務。
中間這三個數字是這一關唯一要證明的事，也是我覺得整個專題最硬的證據。
我在部署的同時，開了一支程式每 0.5 秒打一次網站，持續四分鐘。結果是 300 次請求、300 次成功、0 次失敗，可用率百分之百。
最下面這行是換版瞬間的明細，我覺得很有意思。
26 秒的時候是舊版，27 秒變新版，28 秒又回到舊版，31 秒又是新版……新舊版本交錯出現了大概 15 秒。
這個交錯就是滾動更新的指紋。它證明系統不是「先殺再起」，而是新舊任務同時活著、流量逐步轉移。而在這 15 秒裡面，沒有任何一個使用者的請求失敗。
對照關 3：那幾秒是真的斷線。對照關 4：使用者完全無感。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這一頁是整個專題的結論。
左邊這張圖是人工步驟數。關 0 是 18 步，關 1 降到 7 步，關 2 之後就只剩 1 步，就是 git push。減少 94%。
右邊是端到端耗時。關 0 是 960 秒，也就是 16 分鐘。關 3 是 80 秒。減少 92%。
這裡我想誠實說明一件事：關 1 的 37 秒看起來比關 3 的 80 秒快，但那不是退步。關 1 的 37 秒是「機器執行的時間」，人還要自己去打指令、自己去部署。關 3 的 80 秒是「從我按下 push，到使用者看得到新版」的完整時間，中間完全沒有人。
下面這五欄是不能用圖表呈現、但同樣重要的改善。
人工介入：從每次都要，變成零。
失敗次數：從 2 次變成 0 次。
測試關卡：從沒有，變成機器自動阻擋。
版本可追溯：從查不到，變成精確對應到某一次 commit。
換版中斷：從有，變成沒有。
我想強調最後三欄。前面兩欄是「快多少」，後面三欄是「安不安全、查不查得到、會不會影響使用者」——在金融業，後面三欄其實比前面兩欄重要。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這一頁講安全設計，我認為是這個專題最值得說明的部分。
上面這個表是整條流水線的四個環節。每一個環節我都列出它怎麼認證、憑證活多久。
四個環節，沒有任何一個存放長期金鑰。全部都是「用身分換取短期憑證，用完即失效」。
最長的也只有 12 小時。就算某段日誌不小心外洩，隔天就沒用了。
下面四點是其他措施，我挑兩個講。
第二點的漏洞掃描。我把 ECR 設定成推送時自動掃描，結果實際掃出 4 個嚴重、8 個高風險漏洞——來源是基礎映像檔裡的作業系統套件，不是我寫的程式。
這件事的意義是：你不會知道自己用的基底有什麼問題，除非有人幫你掃。2021 年 Log4j 事件的時候，很多金融機構最痛苦的問題就是「我們到底哪些系統用了它」，查了好幾天。這就是軟體供應鏈安全。
第四點我想解釋一下。很多人以為「資料庫連不到外網」是靠防火牆擋的。其實不是。防火牆是門鎖，管的是誰可以進來；路由表是有沒有路，沒有路根本走不出去。
我的私有子網路由表裡只有一條本地路由，沒有任何對外通道。這叫從根本上斷絕，比靠防火牆規則可靠得多。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最後一個部分，我想講這套流程實際上解決什麼問題。
我目前在金融業擔任商業分析的工作，所以我會特別從這個角度看。
在金融業，「系統上線」從來不是純技術問題，它是風險與法遵問題。
一般科技公司上線出錯，使用者抱怨一下，修一修就好。券商上線出錯，客戶下不了單、可能上新聞、可能被主管機關盯上。
所以金融業對上線的態度是「寧可慢，不可錯」。於是流程變成：排上線窗口、收盤後或週末做、IT 跟業務一起待命、人工執行、出事人工回滾。
但這套「安全」的做法，本身製造了幾個風險。這張表把它們一條一條對應到內控術語。
第一條，18 個步驟仰賴人不出錯——這叫作業風險。自動化之後人只做 1 步。
第二條，不知道線上跑哪一版——這叫稽核軌跡。內稽如果問「六月十五號那天線上是哪一版」，手動部署答不出來。
第三條，出錯復原耗時——這叫營運持續，也就是 BCP。現在指定舊版本重新部署就好。
第四條，上線需人工登入主機——這叫存取控制。資安稽核如果問「誰能登入生產主機」，我的答案是沒有人能 SSH。
第五條，沒有審批紀錄——這叫變更管理。現在測試不過流水線就中止，機器強制執行，繞不過去。
第六條，換版需停機窗口——關 4 解決了。
最下面這行：金管會已經鬆綁金融業上雲的委外規範，這類需求在券商只會愈來愈多。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1417320"/>
            <a:ext cx="10149840" cy="4023360"/>
          </a:xfrm>
          <a:prstGeom prst="roundRect">
            <a:avLst>
              <a:gd name="adj" fmla="val 22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54480" y="1828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NKC202 期末專題 · 題目 P3（Tier 3）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24028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CI/CD 演化闖關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554480" y="320040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把「改一行程式碼到上線」從 18 個步驟、16 分鐘的人工作業，</a:t>
            </a:r>
            <a:endParaRPr lang="en-US" sz="17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變成 1 個步驟、80 秒的全自動流程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4480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張博堯　|　2026 年 9 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github.com/CarlosChangYao/aws-cicd-pipeline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專題全貌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六關演進：每一關解決前一關的一個問題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737360" cy="228600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192024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1947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45059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手動部署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30175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體會痛點</a:t>
            </a:r>
            <a:endParaRPr lang="en-US" sz="11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建立基準線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67712" y="2697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50592" y="1737360"/>
            <a:ext cx="1737360" cy="228600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53512" y="192024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53512" y="1947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23744" y="245059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容器化 + ECR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23744" y="30175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環境固定</a:t>
            </a:r>
            <a:endParaRPr lang="en-US" sz="11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傳輸可靠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9664" y="2697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52544" y="1737360"/>
            <a:ext cx="1737360" cy="228600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55464" y="192024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55464" y="1947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25696" y="245059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自動建置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25696" y="30175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即打包</a:t>
            </a:r>
            <a:endParaRPr lang="en-US" sz="11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測試把關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71616" y="2697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54496" y="1737360"/>
            <a:ext cx="1737360" cy="228600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57416" y="192024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57416" y="1947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27648" y="245059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自動部署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27648" y="30175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改一行程式碼</a:t>
            </a:r>
            <a:endParaRPr lang="en-US" sz="11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自動上線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73568" y="2697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56448" y="1737360"/>
            <a:ext cx="1737360" cy="228600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59368" y="192024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59368" y="1947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0" y="245059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滾動更新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0" y="30175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換版不中斷</a:t>
            </a:r>
            <a:endParaRPr lang="en-US" sz="11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跨可用區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75520" y="2697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058400" y="1737360"/>
            <a:ext cx="1737360" cy="228600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561320" y="1920240"/>
            <a:ext cx="731520" cy="384048"/>
          </a:xfrm>
          <a:prstGeom prst="roundRect">
            <a:avLst>
              <a:gd name="adj" fmla="val 14286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61320" y="194767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131552" y="2450592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跨雲分發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131552" y="30175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評估後</a:t>
            </a:r>
            <a:endParaRPr lang="en-US" sz="11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決定不做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關卡之間不是「學了新工具」，而是「解決了上一關記錄下來的具體問題」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914400" y="50292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例如關 0 記錄到「程式碼手貼會貼壞，失敗 2 次」→ 關 1 用 docker pull 解決；關 1 記錄到「打包仍需人工」→ 關 2 用 Actions 解決。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0：手動部署——建立基準線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這一關的目標不是「部署成功」，而是「記錄部署有多痛」。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21762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個步驟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1821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從連線到驗證完成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21762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2900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31821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以截圖時間戳為據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21762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63640" y="28803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次失敗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1821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並記錄根本原因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201168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98280" y="21762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9828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版本可追溯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31821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GIT_COMMIT 只能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 none-manual-deploy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41605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兩次失敗的根本原因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526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-i 會開新的 shell，後面用 &amp;&amp; 串接的指令不會執行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Manager 走 WebSocket，一次貼 58 行會掉字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977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37960" y="41605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記錄下來的七個痛點（節選）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4526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版本號人工填，無機制保證與程式碼一致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不知道線上跑哪一版，無法回滾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每改一行，18 個步驟要從頭再來一次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1：容器化 + ECR——把環境一起打包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0 的做法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程式碼用貼的貼進伺服器（會貼壞）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目標機器要先裝 Python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要自己建虛擬環境、自己裝套件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換一台機器，全部重來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1 的做法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148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pull 完整傳輸，不會壞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已經在映像檔裡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套件在建置時就裝好，封在映像檔內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同一個映像檔到哪台機器都一樣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41422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94360" y="4846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個步驟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51480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0 是 18 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39776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41422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429000" y="4846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51480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0 是 16 分鐘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3640" y="414223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263640" y="4846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次失敗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51480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傳輸不再出錯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560" y="39776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98280" y="414223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1cfbef1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09828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版本可追溯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98280" y="51480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首次能對應到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真實的 git commit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2：自動建置——push 就打包，測試不過不准上線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70048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411480" cy="4114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9293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19019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4505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唯一的人工動作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0712" y="1691640"/>
            <a:ext cx="2670048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47872" y="18745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47872" y="19293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69080" y="19019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執行測試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47872" y="24505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不過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流水線紅燈中止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2784" y="1691640"/>
            <a:ext cx="2670048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9944" y="187452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9944" y="19293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1152" y="19019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建置映像檔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9944" y="24505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版本號由機器產生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人工無法介入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34856" y="1691640"/>
            <a:ext cx="2670048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72016" y="1874520"/>
            <a:ext cx="411480" cy="4114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72016" y="192938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93224" y="19019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 ECR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72016" y="2450592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三個標籤：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/ 版本 / latest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41879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最重要的設計：全程沒有任何 AWS 金鑰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4400" y="457200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常見做法是把 AWS 的 access key 存進 GitHub Secrets——等於把帳號鑰匙永久交給第三方平台保管。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9377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本專題改用 OIDC：GitHub 每次執行時簽發一張數分鐘有效的身分證明，AWS 驗證「確實來自這個 repo」後才發給 1 小時的臨時憑證，用完即失效。兩邊都沒有金鑰存在。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3：自動部署——改一行程式碼，80 秒自動上線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實測結果（檢核點 #17）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14:22:49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103120" y="2240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push（唯一的人工動作）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0312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自動測試 → 建置 → 推 ECR → SSM 部署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14:24:09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0312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線上版本自動更新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總計 80 秒，中間我沒有做任何事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64592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1828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可追溯性形成閉環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66560" y="22860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線上網頁顯示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2542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　dc4758f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0" y="29718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 git log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32278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dc4758f　Demo：改一行程式碼…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0" y="3611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線上跑的是哪一版，現在是確定的事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37083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部署方式：SSM Run Command，不使用 SSH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完全不開 22 port，主機內的 sshd 也已停用。GitHub 不需要保管任何主機金鑰。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運作方式是主機上的代理程式「主動」向 AWS 輪詢指令，所以不需要開放任何對外連接埠——每次部署還會留下完整的稽核軌跡。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4：滾動更新——換版時服務完全不中斷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3 剩下的問題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rm -f  → 先殺掉舊容器（服務中斷）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   → 再啟動新容器（才恢復）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單機只有一個容器，殺掉就沒了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0" y="1783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 4 的解法：滾動更新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先啟動新任務（暫時擴充到 200%）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等新任務通過負載平衡器健康檢查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才逐一終止舊任務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54787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9436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次請求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5537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部署期間每 0.5 秒打一次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33832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54787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38912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 HTTP 200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0" y="45537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全部成功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33832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83880" y="354787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18388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次失敗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455371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可用率 100.00%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3035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換版瞬間，新舊版本同時服務約 15 秒——這就是「先起新的、確認健康、再收舊的」的證據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58704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15:11:26 舊版　→　15:11:27 新版　→　15:11:28 舊版　→　15:11:31 新版　⋯　15:11:47 完全切換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核心結論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成果：用數字說話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5486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17920" y="1600200"/>
          <a:ext cx="53949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77240" y="4983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人工介入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" y="5257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每次都要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77240" y="55321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77240" y="5742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971800" y="4983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失敗次數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971800" y="5257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次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71800" y="55321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971800" y="5742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次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166360" y="4983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測試關卡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166360" y="5257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166360" y="55321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166360" y="5742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自動阻擋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360920" y="4983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版本可追溯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360920" y="5257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否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360920" y="55321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360920" y="5742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 commit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555480" y="4983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換版中斷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555480" y="5257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9555480" y="55321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9555480" y="57424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評分維度③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安全設計：整條流水線零長期憑證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8912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認證方式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76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→ AWS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0" y="2176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換取臨時憑證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0" y="2176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小時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→ ECR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89120" y="2606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以臨時憑證換取推送權杖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32688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小時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035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→ EC2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0" y="3035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Run Command（不經 SSH）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326880" y="3035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單次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34655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→ ECR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0" y="346557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IAM Role 換取權杖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26880" y="34655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小時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3891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其他措施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736592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不開 22 port，且主機內 sshd 已停用（縱深防禦，不依賴單一控制點）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容器以非 root 使用者執行；ECR 私有倉庫並啟用推送掃描，實際掃出 CRITICAL 4 / HIGH 8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權限精確到單一資源：只能推特定倉庫、只能對特定主機下指令、只能更新特定服務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私有子網使用獨立路由表且無對外路由——「出不去」由路由層保證，非倚賴防火牆規則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延伸應用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這套流程解決的是什麼問題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在金融業，「系統上線」不是技術問題，是風險與法遵問題。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3520440"/>
          </a:xfrm>
          <a:prstGeom prst="roundRect">
            <a:avLst>
              <a:gd name="adj" fmla="val 20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手動部署的風險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2148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內控術語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955280" y="21488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本專題的解法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487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個步驟仰賴人不出錯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2487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作業風險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955280" y="24871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自動化，人只做 1 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不知道線上是哪一版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稽核軌跡 / 可追溯性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每次部署綁定 commit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4564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出錯後復原耗時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4564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營運持續（BCP）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3456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指定舊版重新部署即可回滾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94106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上線需人工登入主機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9410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存取控制 / 特權帳號管理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55280" y="3941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全程無 SSH，留下稽核紀錄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4256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沒有審批與檢查紀錄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4425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變更管理 / 內控三道防線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44256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測試不過流水線中止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910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換版需停機窗口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4910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服務中斷 / SLA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4910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滾動更新，營業時間可上線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金管會已鬆綁金融業上雲委外規範，此類需求在券商將持續增加。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7F080A-9453-B3A8-AEE0-8D3FE3F4C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239" y="643467"/>
            <a:ext cx="6403522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71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42B560-CDB1-CE0D-1E8B-E3F83CD3B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747"/>
            <a:ext cx="7772400" cy="30807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852686-00DB-2646-32D4-4114B1D6B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429000"/>
            <a:ext cx="7772400" cy="341925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219B3F-D8A7-2D73-8272-D21537E05A0E}"/>
              </a:ext>
            </a:extLst>
          </p:cNvPr>
          <p:cNvCxnSpPr>
            <a:cxnSpLocks/>
          </p:cNvCxnSpPr>
          <p:nvPr/>
        </p:nvCxnSpPr>
        <p:spPr>
          <a:xfrm>
            <a:off x="2209800" y="3265714"/>
            <a:ext cx="7772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ame 8">
            <a:extLst>
              <a:ext uri="{FF2B5EF4-FFF2-40B4-BE49-F238E27FC236}">
                <a16:creationId xmlns:a16="http://schemas.microsoft.com/office/drawing/2014/main" id="{276C0C86-71FE-2B4F-A030-42F66CF7B308}"/>
              </a:ext>
            </a:extLst>
          </p:cNvPr>
          <p:cNvSpPr/>
          <p:nvPr/>
        </p:nvSpPr>
        <p:spPr>
          <a:xfrm>
            <a:off x="2209800" y="3349631"/>
            <a:ext cx="7772400" cy="643636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074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144303-4F8A-1378-2C37-49A729C6E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247" y="643467"/>
            <a:ext cx="6055506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98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1961</Words>
  <Application>Microsoft Macintosh PowerPoint</Application>
  <PresentationFormat>Widescreen</PresentationFormat>
  <Paragraphs>238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NKC202 期末專題 — AWS CI/CD 演化闖關</dc:title>
  <dc:subject>PptxGenJS Presentation</dc:subject>
  <dc:creator>張博堯</dc:creator>
  <cp:lastModifiedBy>PO-YAO CHANG</cp:lastModifiedBy>
  <cp:revision>4</cp:revision>
  <dcterms:created xsi:type="dcterms:W3CDTF">2026-08-16T07:20:39Z</dcterms:created>
  <dcterms:modified xsi:type="dcterms:W3CDTF">2026-09-05T01:46:29Z</dcterms:modified>
</cp:coreProperties>
</file>